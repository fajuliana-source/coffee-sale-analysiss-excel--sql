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57" r:id="rId6"/>
    <p:sldId id="258" r:id="rId7"/>
    <p:sldId id="259" r:id="rId8"/>
    <p:sldId id="260" r:id="rId9"/>
    <p:sldId id="261" r:id="rId10"/>
    <p:sldId id="266" r:id="rId11"/>
    <p:sldId id="262" r:id="rId12"/>
    <p:sldId id="263" r:id="rId13"/>
    <p:sldId id="264" r:id="rId14"/>
    <p:sldId id="265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3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>
        <p:scale>
          <a:sx n="75" d="100"/>
          <a:sy n="75" d="100"/>
        </p:scale>
        <p:origin x="45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56D02-4451-49B9-A92F-A6188E70327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18162-A513-45FA-9261-9570C7CB6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73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18162-A513-45FA-9261-9570C7CB6D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98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18162-A513-45FA-9261-9570C7CB6D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388D-628D-4254-2A21-256B4FCFB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C9CD1-9048-ADD7-4466-1C455704B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C2FAB-3767-DACE-436E-2F4BEF0F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EFD5E-B0BD-9966-9215-99ECDCBB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7BBBF-A310-8C74-B56C-9AC01740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31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2006-08EF-3D1A-8204-5049C243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9723-B1CE-1688-888A-BFD95C0AA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62AB0-6DD9-B0A2-A83F-930121AD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7D5E8-9152-8DFF-E307-D3C04BB0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FE4C-C594-A2BE-6C09-3F9B4FCA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8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ADFD-E168-0178-2936-4FA86BF3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BFF99-0E14-D17A-2687-A4B62EC9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E0ED-ED10-9243-7C61-0C4DAF33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5440D-69A8-302D-5492-0044B17A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EB3B-8C5B-EE98-6EF5-C653E937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7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0F0F-1018-6F3B-182E-635C8D9D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30FDE-057E-0862-B930-52A84D6FF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DF7E3-3CD6-FDB5-D4EE-4E2DD3EE6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F1ABD-BF8F-1A43-698B-7E584C37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6E3FE-1A1D-02C3-2776-3C4FE81B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B8B9-11EA-257B-62D9-6C31D86B2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3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A09C-5CC4-572E-7BC6-06675374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4D965-5F67-1D05-3984-6DE979328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9C5B2-D762-D8BB-478E-25121EE68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2E399-A9EA-C43D-6F7A-5325523F8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F6477-61D8-C67F-F680-E67DBAF44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E0E3D-2FE1-12B4-682F-7FE39491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B1AE17-62A1-CBA9-68B0-1336C10C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98AB3-71E2-B1BC-BE04-C70735F9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8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2915-CF9C-F16F-691C-2FE6C132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0FDC9-596A-A8DE-32C5-45057268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82142-D5B2-5FFF-299D-41F70AFC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254B4-EAE0-4702-A2A8-4F83CA03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2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E379C-109C-EED0-BEC3-F1FD6929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3C8491-514C-12D4-8BAE-52DB1CBE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1D503-19CE-B86D-E6EA-0186AEE9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63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1D03-6916-C87C-C05C-0A99DAED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12E4F-D9C9-937A-3B0C-A040140FC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C557C-20A3-DCD0-4EE0-37BABAA23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B3CF1-99FD-75CA-7FA2-C77A9C15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9081D-DAFE-A1C7-0D44-EAE19B3C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E046-432C-84F0-DD58-8E2DE4A7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0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6448-C81F-932C-A49E-4971AB19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903F2-B259-5582-7C3E-1CF69F533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5E239-E5C7-028E-787E-6BCBF3948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25FAE-97D8-2684-379B-94052E23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277D1-1773-2230-EDF6-2079F0BE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C855C-77F7-5502-F3DF-F0FE7BE2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41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A8E-CEE9-A55F-A21E-7638C7CF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833B4-1506-C957-AA04-62379F34E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72948-0FC3-EC8E-42F3-F5BBBD28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766E-E982-AB2A-F11E-611109AE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9EED-DCBA-E787-669E-EFF58CB1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7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DE77B-3A3F-B231-0C1E-EEB0AD0FB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8B432-7DFD-CCC5-93E0-BAB87F776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17532-AE80-9943-0D07-D5999C87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31ACD-8736-D67A-5316-72582EFE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E0B5-AE1F-EB85-EFBA-6E696A49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5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C1A42-451C-CE74-795C-D75E156C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29525-8680-609A-58A4-2ACB682E6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12912-2DB3-A591-55E8-7C99CDAE82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C232C-74A6-4940-A099-990CADED9E47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8248F-12AB-0C04-3EE3-6036646E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7F22-FBB3-DB36-AB2D-2927C659A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8B13E-4B10-4896-8D3A-529270776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4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9D1C-4DF8-9032-2FFE-F7ECA917C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8516" y="1214438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COFFEE SALES ANALYSIS-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SQL + DASBOARD insights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C5826-CE05-ED50-1E14-A415C5265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07" y="1901826"/>
            <a:ext cx="1657333" cy="1700212"/>
          </a:xfrm>
          <a:prstGeom prst="rect">
            <a:avLst/>
          </a:prstGeom>
        </p:spPr>
      </p:pic>
      <p:sp>
        <p:nvSpPr>
          <p:cNvPr id="10" name="TextBox 32">
            <a:extLst>
              <a:ext uri="{FF2B5EF4-FFF2-40B4-BE49-F238E27FC236}">
                <a16:creationId xmlns:a16="http://schemas.microsoft.com/office/drawing/2014/main" id="{1A967993-35C6-3602-A210-5464CE89ED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63000" y="60277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chemeClr val="bg1"/>
                </a:solidFill>
              </a:rPr>
              <a:t>Fatolu Adedoyin Juliana</a:t>
            </a:r>
          </a:p>
        </p:txBody>
      </p:sp>
    </p:spTree>
    <p:extLst>
      <p:ext uri="{BB962C8B-B14F-4D97-AF65-F5344CB8AC3E}">
        <p14:creationId xmlns:p14="http://schemas.microsoft.com/office/powerpoint/2010/main" val="856122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3357D-8A84-47D0-83F5-AE68F0E6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673E20"/>
                </a:solidFill>
              </a:rPr>
              <a:t>Project Objective &amp; Scope Objective:</a:t>
            </a:r>
            <a:br>
              <a:rPr lang="en-US" dirty="0">
                <a:solidFill>
                  <a:srgbClr val="673E20"/>
                </a:solidFill>
              </a:rPr>
            </a:br>
            <a:endParaRPr lang="en-US" dirty="0">
              <a:solidFill>
                <a:srgbClr val="673E2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AE1F7D-D14D-9D5F-174C-D32646D3B9E0}"/>
              </a:ext>
            </a:extLst>
          </p:cNvPr>
          <p:cNvSpPr txBox="1">
            <a:spLocks/>
          </p:cNvSpPr>
          <p:nvPr/>
        </p:nvSpPr>
        <p:spPr>
          <a:xfrm>
            <a:off x="838200" y="1881869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>
                <a:solidFill>
                  <a:srgbClr val="673E20"/>
                </a:solidFill>
              </a:rPr>
              <a:t>Objective:</a:t>
            </a:r>
            <a:endParaRPr lang="en-GB" sz="2000" dirty="0">
              <a:solidFill>
                <a:srgbClr val="673E2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673E20"/>
                </a:solidFill>
              </a:rPr>
              <a:t>Understand sales trends, top products, and demand by time/day.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673E2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673E20"/>
                </a:solidFill>
              </a:rPr>
              <a:t>Show the ability to perform the analysis both in Excel (dashboard) and SQL (queries).</a:t>
            </a:r>
          </a:p>
        </p:txBody>
      </p:sp>
      <p:sp>
        <p:nvSpPr>
          <p:cNvPr id="4" name="TextBox 32">
            <a:extLst>
              <a:ext uri="{FF2B5EF4-FFF2-40B4-BE49-F238E27FC236}">
                <a16:creationId xmlns:a16="http://schemas.microsoft.com/office/drawing/2014/main" id="{BDC3E9C7-D212-020F-5CD4-9E32B7B78FA9}"/>
              </a:ext>
            </a:extLst>
          </p:cNvPr>
          <p:cNvSpPr txBox="1">
            <a:spLocks/>
          </p:cNvSpPr>
          <p:nvPr/>
        </p:nvSpPr>
        <p:spPr>
          <a:xfrm>
            <a:off x="8763000" y="60277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02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F93C-9453-C8D4-68E3-318A2986C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208"/>
            <a:ext cx="10515600" cy="5962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673E20"/>
                </a:solidFill>
              </a:rPr>
              <a:t>Approach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530674-1D99-6739-1018-2D3D5F9ED7FE}"/>
              </a:ext>
            </a:extLst>
          </p:cNvPr>
          <p:cNvSpPr txBox="1">
            <a:spLocks/>
          </p:cNvSpPr>
          <p:nvPr/>
        </p:nvSpPr>
        <p:spPr>
          <a:xfrm>
            <a:off x="838200" y="22882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E3BE6A-CB70-4F79-5867-EBBBA7D87C31}"/>
              </a:ext>
            </a:extLst>
          </p:cNvPr>
          <p:cNvSpPr txBox="1">
            <a:spLocks/>
          </p:cNvSpPr>
          <p:nvPr/>
        </p:nvSpPr>
        <p:spPr>
          <a:xfrm>
            <a:off x="838200" y="1193800"/>
            <a:ext cx="10515600" cy="3770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>
                <a:solidFill>
                  <a:srgbClr val="673E20"/>
                </a:solidFill>
              </a:rPr>
              <a:t>Step 1: Excel Dashboard</a:t>
            </a:r>
            <a:endParaRPr lang="en-GB" sz="2000" dirty="0">
              <a:solidFill>
                <a:srgbClr val="673E2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73E20"/>
                </a:solidFill>
              </a:rPr>
              <a:t>Built an interactive dashboard using Pivot Tables, Slicers, and Charts.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673E2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73E20"/>
                </a:solidFill>
              </a:rPr>
              <a:t>Showed KPIs, sales trends, top products, weekday and time-of-day patterns.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673E2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673E20"/>
              </a:solidFill>
            </a:endParaRPr>
          </a:p>
          <a:p>
            <a:r>
              <a:rPr lang="en-GB" sz="2000" b="1" dirty="0">
                <a:solidFill>
                  <a:srgbClr val="673E20"/>
                </a:solidFill>
              </a:rPr>
              <a:t>Step 2: SQL Analysis</a:t>
            </a:r>
            <a:endParaRPr lang="en-GB" sz="2000" dirty="0">
              <a:solidFill>
                <a:srgbClr val="673E2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73E20"/>
                </a:solidFill>
              </a:rPr>
              <a:t>Replicated the same metrics and breakdowns with SQL queries.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673E2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73E20"/>
                </a:solidFill>
              </a:rPr>
              <a:t>Created queries for KPIs, weekday sales, monthly sales, and top products.</a:t>
            </a: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04D6E902-4222-BB6E-CD8D-F65C37A05570}"/>
              </a:ext>
            </a:extLst>
          </p:cNvPr>
          <p:cNvSpPr txBox="1">
            <a:spLocks/>
          </p:cNvSpPr>
          <p:nvPr/>
        </p:nvSpPr>
        <p:spPr>
          <a:xfrm>
            <a:off x="8763000" y="60277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25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87545-F387-B2A2-F687-D544C7FC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73E20"/>
                </a:solidFill>
              </a:rPr>
              <a:t>Data &amp; SQL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6F9388-22AF-3E4F-DB1D-16EF239841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5548"/>
            <a:ext cx="980403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Created a Database Coffee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Created table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coffee_sales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and imported source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Validated data types (dates, numeric), handled nulls/outliers.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Built KPI queries (sales, orders, AUP, units) + segment queries (weekday, hour, product type).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Aggregated monthly &amp; daily trends for dashboard.</a:t>
            </a: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B3DCF596-852D-B36B-81B2-7C17306922BD}"/>
              </a:ext>
            </a:extLst>
          </p:cNvPr>
          <p:cNvSpPr txBox="1">
            <a:spLocks/>
          </p:cNvSpPr>
          <p:nvPr/>
        </p:nvSpPr>
        <p:spPr>
          <a:xfrm>
            <a:off x="8763000" y="60277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61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8B02-E5FC-B096-95BD-4CA91077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73E20"/>
                </a:solidFill>
              </a:rPr>
              <a:t>Creating a Table called “</a:t>
            </a:r>
            <a:r>
              <a:rPr lang="en-US" dirty="0" err="1">
                <a:solidFill>
                  <a:srgbClr val="673E20"/>
                </a:solidFill>
              </a:rPr>
              <a:t>coffee_sales</a:t>
            </a:r>
            <a:r>
              <a:rPr lang="en-US" dirty="0">
                <a:solidFill>
                  <a:srgbClr val="673E20"/>
                </a:solidFill>
              </a:rPr>
              <a:t>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D393AF-A6AE-6DE4-4404-1AD3DBBB1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808"/>
            <a:ext cx="10515600" cy="4156972"/>
          </a:xfrm>
        </p:spPr>
      </p:pic>
      <p:sp>
        <p:nvSpPr>
          <p:cNvPr id="3" name="TextBox 32">
            <a:extLst>
              <a:ext uri="{FF2B5EF4-FFF2-40B4-BE49-F238E27FC236}">
                <a16:creationId xmlns:a16="http://schemas.microsoft.com/office/drawing/2014/main" id="{100C15D2-A373-A56D-56BE-F579A2F77DDB}"/>
              </a:ext>
            </a:extLst>
          </p:cNvPr>
          <p:cNvSpPr txBox="1">
            <a:spLocks/>
          </p:cNvSpPr>
          <p:nvPr/>
        </p:nvSpPr>
        <p:spPr>
          <a:xfrm>
            <a:off x="8763000" y="60277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25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A67D-F78D-B3C6-9F69-97DCD32D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673E20"/>
                </a:solidFill>
              </a:rPr>
              <a:t>Data Importation and Calling</a:t>
            </a:r>
            <a:br>
              <a:rPr lang="en-US" dirty="0">
                <a:solidFill>
                  <a:srgbClr val="673E20"/>
                </a:solidFill>
              </a:rPr>
            </a:br>
            <a:r>
              <a:rPr lang="en-US" sz="2000" dirty="0">
                <a:solidFill>
                  <a:srgbClr val="673E20"/>
                </a:solidFill>
              </a:rPr>
              <a:t>Using the “COPY and SELECT statement”</a:t>
            </a:r>
            <a:endParaRPr lang="en-US" dirty="0">
              <a:solidFill>
                <a:srgbClr val="673E2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62DED9-DEE9-EF1E-AEA5-E2934079F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0515600" cy="4351338"/>
          </a:xfrm>
        </p:spPr>
      </p:pic>
      <p:sp>
        <p:nvSpPr>
          <p:cNvPr id="3" name="TextBox 32">
            <a:extLst>
              <a:ext uri="{FF2B5EF4-FFF2-40B4-BE49-F238E27FC236}">
                <a16:creationId xmlns:a16="http://schemas.microsoft.com/office/drawing/2014/main" id="{578C16AA-2C77-C44D-5FEC-3A3482FF8969}"/>
              </a:ext>
            </a:extLst>
          </p:cNvPr>
          <p:cNvSpPr txBox="1">
            <a:spLocks/>
          </p:cNvSpPr>
          <p:nvPr/>
        </p:nvSpPr>
        <p:spPr>
          <a:xfrm>
            <a:off x="9550400" y="23018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337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1C20-9522-DE65-3F9C-95917269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673E20"/>
                </a:solidFill>
              </a:rPr>
              <a:t>KPI Summary (Metric Cards)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634405E-48DE-CD23-B29D-4FDAB39B15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8648"/>
            <a:ext cx="59372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– Overall revenue across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Total Orders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– Number of orders processed.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Avg. Unit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– Revenue ÷ Units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Total Units Sold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– Quantity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SQL Note: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These were generated in SQL with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 Unicode MS" panose="020B0604020202020204" pitchFamily="34" charset="-128"/>
              </a:rPr>
              <a:t>SUM()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 Unicode MS" panose="020B0604020202020204" pitchFamily="34" charset="-128"/>
              </a:rPr>
              <a:t>COUNT()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</a:rPr>
              <a:t>, and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 Unicode MS" panose="020B0604020202020204" pitchFamily="34" charset="-128"/>
              </a:rPr>
              <a:t>AVG()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</a:rPr>
              <a:t> queries.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32">
            <a:extLst>
              <a:ext uri="{FF2B5EF4-FFF2-40B4-BE49-F238E27FC236}">
                <a16:creationId xmlns:a16="http://schemas.microsoft.com/office/drawing/2014/main" id="{C088BD86-8622-E707-61AB-6EB1C60F5D5B}"/>
              </a:ext>
            </a:extLst>
          </p:cNvPr>
          <p:cNvSpPr txBox="1">
            <a:spLocks/>
          </p:cNvSpPr>
          <p:nvPr/>
        </p:nvSpPr>
        <p:spPr>
          <a:xfrm>
            <a:off x="8763000" y="60277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85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66B8-D2A4-890A-E126-DF801EFE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315"/>
            <a:ext cx="10515600" cy="776515"/>
          </a:xfrm>
        </p:spPr>
        <p:txBody>
          <a:bodyPr>
            <a:noAutofit/>
          </a:bodyPr>
          <a:lstStyle/>
          <a:p>
            <a:pPr marL="514350" indent="-514350"/>
            <a:r>
              <a:rPr lang="en-US" sz="2800" b="1" dirty="0">
                <a:solidFill>
                  <a:srgbClr val="673E20"/>
                </a:solidFill>
              </a:rPr>
              <a:t>TOTAL SALES &amp;TOTAL ORDERS</a:t>
            </a:r>
            <a:br>
              <a:rPr lang="en-US" sz="2800" b="1" dirty="0">
                <a:solidFill>
                  <a:srgbClr val="673E20"/>
                </a:solidFill>
              </a:rPr>
            </a:br>
            <a:endParaRPr lang="en-US" sz="2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9826CF-619F-15FD-7AE4-651C329DEF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7951"/>
            <a:ext cx="5181600" cy="374706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3BC723-C9A8-DA08-4712-6300457CB2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67951"/>
            <a:ext cx="5181600" cy="3747062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3E440A87-8AAB-50C3-CE40-8C9F2E20D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776515"/>
            <a:ext cx="690880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Total Sales: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The business generated ₦ 698812.33 in total sales during the period,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showing strong revenue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Total Orders: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A total of </a:t>
            </a:r>
            <a:r>
              <a:rPr lang="en-US" altLang="en-US" sz="1400" dirty="0">
                <a:solidFill>
                  <a:srgbClr val="673E20"/>
                </a:solidFill>
                <a:latin typeface="Arial" panose="020B0604020202020204" pitchFamily="34" charset="0"/>
              </a:rPr>
              <a:t>149116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orders were placed, highlighting customer demand and transaction volume.</a:t>
            </a:r>
          </a:p>
        </p:txBody>
      </p:sp>
      <p:sp>
        <p:nvSpPr>
          <p:cNvPr id="10" name="TextBox 32">
            <a:extLst>
              <a:ext uri="{FF2B5EF4-FFF2-40B4-BE49-F238E27FC236}">
                <a16:creationId xmlns:a16="http://schemas.microsoft.com/office/drawing/2014/main" id="{5C5E5F40-1905-B8B5-A63D-C865B17213E8}"/>
              </a:ext>
            </a:extLst>
          </p:cNvPr>
          <p:cNvSpPr txBox="1">
            <a:spLocks/>
          </p:cNvSpPr>
          <p:nvPr/>
        </p:nvSpPr>
        <p:spPr>
          <a:xfrm>
            <a:off x="8763000" y="60277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98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D153-2FE6-C46C-9DB0-ADF24B67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78"/>
            <a:ext cx="10515600" cy="76029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673E20"/>
                </a:solidFill>
              </a:rPr>
              <a:t>AVG UNIT PRICE, TOTAL UNIT SOLD, TOP PRODUCT….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10774F-EC5F-1A6A-4992-4BF3ECACB5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5181600" cy="435133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169E78-7CC9-BA36-97B6-2A9BCD2DB8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6"/>
            <a:ext cx="5181600" cy="4351336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EEE5577-0718-6C76-8D78-041C67E1A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61773"/>
            <a:ext cx="10416441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Average Unit Price: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The average selling price per unit was ₦3.388, reflecting pricing strategy and product mix.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Total Units Sold: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73E20"/>
                </a:solidFill>
                <a:effectLst/>
                <a:latin typeface="Arial" panose="020B0604020202020204" pitchFamily="34" charset="0"/>
              </a:rPr>
              <a:t> Overall, 214470 coffee units were sold, confirming high product movement.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1600" b="1" dirty="0">
                <a:solidFill>
                  <a:srgbClr val="673E20"/>
                </a:solidFill>
              </a:rPr>
              <a:t> Top Product</a:t>
            </a:r>
            <a:r>
              <a:rPr lang="en-GB" sz="1400" dirty="0">
                <a:solidFill>
                  <a:srgbClr val="673E20"/>
                </a:solidFill>
              </a:rPr>
              <a:t>:  Barista Expresso is the best-selling product, contributing 13% of total revenue. This makes it the key driver of overall sales.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673E2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155ADB96-3EE2-62CD-5DA5-83E3ACB18498}"/>
              </a:ext>
            </a:extLst>
          </p:cNvPr>
          <p:cNvSpPr txBox="1">
            <a:spLocks/>
          </p:cNvSpPr>
          <p:nvPr/>
        </p:nvSpPr>
        <p:spPr>
          <a:xfrm>
            <a:off x="9359900" y="6304060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84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6D94-6B20-63CB-7B22-797B66E8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6"/>
            <a:ext cx="10515600" cy="897618"/>
          </a:xfrm>
        </p:spPr>
        <p:txBody>
          <a:bodyPr/>
          <a:lstStyle/>
          <a:p>
            <a:r>
              <a:rPr lang="en-US" dirty="0">
                <a:solidFill>
                  <a:srgbClr val="673E20"/>
                </a:solidFill>
              </a:rPr>
              <a:t>THE DASHBORD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1F6BF3-24BA-A802-C8BB-BA734CD75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30300"/>
            <a:ext cx="10062030" cy="4949371"/>
          </a:xfrm>
        </p:spPr>
      </p:pic>
      <p:sp>
        <p:nvSpPr>
          <p:cNvPr id="3" name="TextBox 32">
            <a:extLst>
              <a:ext uri="{FF2B5EF4-FFF2-40B4-BE49-F238E27FC236}">
                <a16:creationId xmlns:a16="http://schemas.microsoft.com/office/drawing/2014/main" id="{919EFABB-B7B8-A5E3-9DAD-21BB2F52771E}"/>
              </a:ext>
            </a:extLst>
          </p:cNvPr>
          <p:cNvSpPr txBox="1">
            <a:spLocks/>
          </p:cNvSpPr>
          <p:nvPr/>
        </p:nvSpPr>
        <p:spPr>
          <a:xfrm>
            <a:off x="8763000" y="6116638"/>
            <a:ext cx="2921849" cy="385762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673E20"/>
                </a:solidFill>
              </a:rPr>
              <a:t>Fatolu Adedoyin Juliana</a:t>
            </a:r>
          </a:p>
        </p:txBody>
      </p:sp>
    </p:spTree>
    <p:extLst>
      <p:ext uri="{BB962C8B-B14F-4D97-AF65-F5344CB8AC3E}">
        <p14:creationId xmlns:p14="http://schemas.microsoft.com/office/powerpoint/2010/main" val="3882810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591B-727E-A21F-FF13-0EF6D620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673E20"/>
                </a:solidFill>
              </a:rPr>
              <a:t>TIME OF THE DAY SALES &amp;  WEEK DAYS SALES</a:t>
            </a:r>
            <a:endParaRPr lang="en-US" sz="3200" dirty="0">
              <a:solidFill>
                <a:srgbClr val="673E20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36E3580-AFA0-F835-4884-D1B727A9E6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94857"/>
            <a:ext cx="5181600" cy="3924275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5A8FF9B-B128-87F8-6F71-ACF78790F0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4859"/>
            <a:ext cx="5181600" cy="3924274"/>
          </a:xfr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34FE96B-5818-2AAE-B8E8-9150FA9ABFA2}"/>
              </a:ext>
            </a:extLst>
          </p:cNvPr>
          <p:cNvSpPr txBox="1">
            <a:spLocks/>
          </p:cNvSpPr>
          <p:nvPr/>
        </p:nvSpPr>
        <p:spPr>
          <a:xfrm>
            <a:off x="838200" y="5494790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>
                <a:solidFill>
                  <a:srgbClr val="673E20"/>
                </a:solidFill>
              </a:rPr>
              <a:t>Comment:</a:t>
            </a:r>
            <a:r>
              <a:rPr lang="en-GB" sz="2000" dirty="0">
                <a:solidFill>
                  <a:srgbClr val="673E20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673E20"/>
                </a:solidFill>
              </a:rPr>
              <a:t>Morning sales (56%) dominate, followed by afternoon (35%), while night sales remain low at 9%.</a:t>
            </a:r>
          </a:p>
          <a:p>
            <a:endParaRPr lang="en-GB" sz="2000" dirty="0">
              <a:solidFill>
                <a:srgbClr val="673E2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673E20"/>
                </a:solidFill>
              </a:rPr>
              <a:t>Monday is the strongest sales day with $101,677, while Saturday records the lowest sales, showing weaker weekend demand.</a:t>
            </a:r>
            <a:endParaRPr lang="en-US" sz="20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91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26BA-E648-B837-9DF9-1F11926E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172"/>
            <a:ext cx="10515600" cy="6810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673E20"/>
                </a:solidFill>
              </a:rPr>
              <a:t>SALES TREND MY MONTH &amp;TOP SELLING PRODUCTS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4F2E8E5-6FE8-C6B1-D0D6-2034A09C66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099911"/>
            <a:ext cx="5181600" cy="4351336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2E301B2-0AFE-5CBA-E38E-A42187D290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099911"/>
            <a:ext cx="5181600" cy="4351337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86BFF9A-F7C9-3F56-16B9-DD2F07AE5891}"/>
              </a:ext>
            </a:extLst>
          </p:cNvPr>
          <p:cNvSpPr txBox="1">
            <a:spLocks/>
          </p:cNvSpPr>
          <p:nvPr/>
        </p:nvSpPr>
        <p:spPr>
          <a:xfrm>
            <a:off x="762000" y="565104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rgbClr val="673E20"/>
                </a:solidFill>
              </a:rPr>
              <a:t>Comment</a:t>
            </a:r>
            <a:r>
              <a:rPr lang="en-GB" sz="400" b="1" dirty="0">
                <a:solidFill>
                  <a:srgbClr val="673E20"/>
                </a:solidFill>
              </a:rPr>
              <a:t>:</a:t>
            </a:r>
            <a:r>
              <a:rPr lang="en-GB" sz="400" dirty="0">
                <a:solidFill>
                  <a:srgbClr val="673E20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673E20"/>
                </a:solidFill>
              </a:rPr>
              <a:t>Sales show steady growth from February, peaking in June at $166,486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800" dirty="0">
              <a:solidFill>
                <a:srgbClr val="673E2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673E20"/>
                </a:solidFill>
              </a:rPr>
              <a:t>Coffee dominates sales with $209,892, far ahead of other product categories.”</a:t>
            </a:r>
            <a:r>
              <a:rPr lang="en-GB" sz="800" dirty="0">
                <a:solidFill>
                  <a:srgbClr val="673E20"/>
                </a:solidFill>
              </a:rPr>
              <a:t>.</a:t>
            </a:r>
            <a:endParaRPr lang="en-US" sz="8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19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568B7-27AF-286B-FDD5-5DF4AB21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rgbClr val="673E20"/>
                </a:solidFill>
              </a:rPr>
              <a:t>TOP 10 MOST ORDERED PRODUCT TYPE</a:t>
            </a:r>
            <a:endParaRPr lang="en-US" sz="3200" dirty="0">
              <a:solidFill>
                <a:srgbClr val="673E2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4C8DC1-D9E1-4271-C422-33528DB38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03594"/>
            <a:ext cx="9626599" cy="406608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909D6A-38B0-9673-6A38-F3E14DFA97AA}"/>
              </a:ext>
            </a:extLst>
          </p:cNvPr>
          <p:cNvSpPr txBox="1"/>
          <p:nvPr/>
        </p:nvSpPr>
        <p:spPr>
          <a:xfrm>
            <a:off x="785447" y="5646377"/>
            <a:ext cx="104159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673E20"/>
                </a:solidFill>
              </a:rPr>
              <a:t>Comment:</a:t>
            </a:r>
            <a:r>
              <a:rPr lang="en-US" sz="1600" dirty="0">
                <a:solidFill>
                  <a:srgbClr val="673E20"/>
                </a:solidFill>
              </a:rPr>
              <a:t> Brewed Chai Tea is the most frequently ordered product </a:t>
            </a:r>
            <a:r>
              <a:rPr lang="en-US" sz="1600" dirty="0" err="1">
                <a:solidFill>
                  <a:srgbClr val="673E20"/>
                </a:solidFill>
              </a:rPr>
              <a:t>ype</a:t>
            </a:r>
            <a:r>
              <a:rPr lang="en-US" sz="1600" dirty="0">
                <a:solidFill>
                  <a:srgbClr val="673E20"/>
                </a:solidFill>
              </a:rPr>
              <a:t> ($17,183), followed by </a:t>
            </a:r>
            <a:r>
              <a:rPr lang="en-US" sz="1600" dirty="0" err="1">
                <a:solidFill>
                  <a:srgbClr val="673E20"/>
                </a:solidFill>
              </a:rPr>
              <a:t>Gourment</a:t>
            </a:r>
            <a:r>
              <a:rPr lang="en-US" sz="1600" dirty="0">
                <a:solidFill>
                  <a:srgbClr val="673E20"/>
                </a:solidFill>
              </a:rPr>
              <a:t> Brewed Coffee and Barista Espresso.</a:t>
            </a:r>
          </a:p>
          <a:p>
            <a:endParaRPr lang="en-US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64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0B3B4-E9EC-C091-2782-4301C196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18" y="118387"/>
            <a:ext cx="10515600" cy="941161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673E20"/>
                </a:solidFill>
              </a:rPr>
              <a:t> TOP 10 HIGHEST EARNING PRODUCT TYPE</a:t>
            </a:r>
            <a:endParaRPr lang="en-US" sz="3200" dirty="0">
              <a:solidFill>
                <a:srgbClr val="673E2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FCF22-B9B7-6D36-4784-75AAC54FA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943430"/>
            <a:ext cx="9655628" cy="452145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3582BC-CE2A-BCEA-F5A5-D3A6B918A47F}"/>
              </a:ext>
            </a:extLst>
          </p:cNvPr>
          <p:cNvSpPr txBox="1"/>
          <p:nvPr/>
        </p:nvSpPr>
        <p:spPr>
          <a:xfrm>
            <a:off x="713591" y="5591841"/>
            <a:ext cx="984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73E20"/>
                </a:solidFill>
              </a:rPr>
              <a:t>Comment:</a:t>
            </a:r>
            <a:r>
              <a:rPr lang="en-US" dirty="0">
                <a:solidFill>
                  <a:srgbClr val="673E20"/>
                </a:solidFill>
              </a:rPr>
              <a:t> Barista Espresso generates the highest revenue ($91,466), followed by Brewed Chai Tea and Hot Chocolate.</a:t>
            </a:r>
          </a:p>
          <a:p>
            <a:endParaRPr lang="en-US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15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4799-2225-AEE0-09FD-416B5675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73E20"/>
                </a:solidFill>
              </a:rPr>
              <a:t> Recommendations &amp; Business Impact</a:t>
            </a:r>
            <a:br>
              <a:rPr lang="en-US" dirty="0">
                <a:solidFill>
                  <a:srgbClr val="673E20"/>
                </a:solidFill>
              </a:rPr>
            </a:br>
            <a:endParaRPr lang="en-US" dirty="0">
              <a:solidFill>
                <a:srgbClr val="673E2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DF898-54A6-5A9E-BFC1-1A60C5563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439"/>
            <a:ext cx="10515600" cy="5074061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1600" b="1" dirty="0">
                <a:solidFill>
                  <a:srgbClr val="673E20"/>
                </a:solidFill>
              </a:rPr>
              <a:t>Boost Weekend Sales:</a:t>
            </a:r>
            <a:r>
              <a:rPr lang="en-GB" sz="1600" dirty="0">
                <a:solidFill>
                  <a:srgbClr val="673E20"/>
                </a:solidFill>
              </a:rPr>
              <a:t> Sales are weaker on Saturdays and Sundays compared to weekdays. Introduce weekend-only offers, loyalty bonuses, or family bundles to encourage more purchases during these slower days.</a:t>
            </a:r>
          </a:p>
          <a:p>
            <a:pPr marL="0" indent="0" algn="just">
              <a:buNone/>
            </a:pPr>
            <a:endParaRPr lang="en-GB" sz="1600" dirty="0">
              <a:solidFill>
                <a:srgbClr val="673E20"/>
              </a:solidFill>
            </a:endParaRPr>
          </a:p>
          <a:p>
            <a:pPr algn="just"/>
            <a:r>
              <a:rPr lang="en-GB" sz="1600" b="1" dirty="0">
                <a:solidFill>
                  <a:srgbClr val="673E20"/>
                </a:solidFill>
              </a:rPr>
              <a:t>Optimize Morning Operations:</a:t>
            </a:r>
            <a:r>
              <a:rPr lang="en-GB" sz="1600" dirty="0">
                <a:solidFill>
                  <a:srgbClr val="673E20"/>
                </a:solidFill>
              </a:rPr>
              <a:t> Since mornings are the busiest period, ensure adequate staff scheduling, inventory, and faster service options to capture every possible sale.</a:t>
            </a:r>
          </a:p>
          <a:p>
            <a:pPr algn="just"/>
            <a:endParaRPr lang="en-GB" sz="1600" dirty="0">
              <a:solidFill>
                <a:srgbClr val="673E20"/>
              </a:solidFill>
            </a:endParaRPr>
          </a:p>
          <a:p>
            <a:pPr algn="just"/>
            <a:r>
              <a:rPr lang="en-GB" sz="1600" b="1" dirty="0">
                <a:solidFill>
                  <a:srgbClr val="673E20"/>
                </a:solidFill>
              </a:rPr>
              <a:t>Leverage Best-Selling Products:</a:t>
            </a:r>
            <a:r>
              <a:rPr lang="en-GB" sz="1600" dirty="0">
                <a:solidFill>
                  <a:srgbClr val="673E20"/>
                </a:solidFill>
              </a:rPr>
              <a:t> Products like Barista Espresso and Brewed Chai Tea are customer </a:t>
            </a:r>
            <a:r>
              <a:rPr lang="en-GB" sz="1600" dirty="0" err="1">
                <a:solidFill>
                  <a:srgbClr val="673E20"/>
                </a:solidFill>
              </a:rPr>
              <a:t>favorites</a:t>
            </a:r>
            <a:r>
              <a:rPr lang="en-GB" sz="1600" dirty="0">
                <a:solidFill>
                  <a:srgbClr val="673E20"/>
                </a:solidFill>
              </a:rPr>
              <a:t>. Use them in promotions or bundles to attract buyers and drive sales of less popular items.</a:t>
            </a:r>
          </a:p>
          <a:p>
            <a:pPr algn="just"/>
            <a:endParaRPr lang="en-GB" sz="1600" dirty="0">
              <a:solidFill>
                <a:srgbClr val="673E20"/>
              </a:solidFill>
            </a:endParaRPr>
          </a:p>
          <a:p>
            <a:pPr algn="just"/>
            <a:r>
              <a:rPr lang="en-GB" sz="1600" b="1" dirty="0">
                <a:solidFill>
                  <a:srgbClr val="673E20"/>
                </a:solidFill>
              </a:rPr>
              <a:t>Protect Premium Pricing:</a:t>
            </a:r>
            <a:r>
              <a:rPr lang="en-GB" sz="1600" dirty="0">
                <a:solidFill>
                  <a:srgbClr val="673E20"/>
                </a:solidFill>
              </a:rPr>
              <a:t> High-earning products already show customers are willing to pay. Maintain their premium pricing while focusing discounts on lower-margin products instead.</a:t>
            </a:r>
          </a:p>
          <a:p>
            <a:pPr algn="just"/>
            <a:endParaRPr lang="en-GB" sz="1600" dirty="0">
              <a:solidFill>
                <a:srgbClr val="673E20"/>
              </a:solidFill>
            </a:endParaRPr>
          </a:p>
          <a:p>
            <a:pPr algn="just"/>
            <a:r>
              <a:rPr lang="en-GB" sz="1600" b="1" dirty="0">
                <a:solidFill>
                  <a:srgbClr val="673E20"/>
                </a:solidFill>
              </a:rPr>
              <a:t>Diversify Beyond Coffee:</a:t>
            </a:r>
            <a:r>
              <a:rPr lang="en-GB" sz="1600" dirty="0">
                <a:solidFill>
                  <a:srgbClr val="673E20"/>
                </a:solidFill>
              </a:rPr>
              <a:t> While coffee dominates revenue, categories like tea, bakery items, and hot chocolate still have room to grow. Cross-sell these with coffee orders to balance sales across the menu.</a:t>
            </a:r>
          </a:p>
          <a:p>
            <a:pPr algn="just"/>
            <a:endParaRPr lang="en-GB" sz="1600" dirty="0">
              <a:solidFill>
                <a:srgbClr val="673E20"/>
              </a:solidFill>
            </a:endParaRPr>
          </a:p>
          <a:p>
            <a:pPr algn="just"/>
            <a:r>
              <a:rPr lang="en-GB" sz="1600" b="1" dirty="0">
                <a:solidFill>
                  <a:srgbClr val="673E20"/>
                </a:solidFill>
              </a:rPr>
              <a:t>Prepare for Seasonal Peaks:</a:t>
            </a:r>
            <a:r>
              <a:rPr lang="en-GB" sz="1600" dirty="0">
                <a:solidFill>
                  <a:srgbClr val="673E20"/>
                </a:solidFill>
              </a:rPr>
              <a:t> Since certain months show higher demand, plan ahead with early marketing campaigns and stronger inventory stocking to fully capitalize on peak periods.</a:t>
            </a:r>
          </a:p>
        </p:txBody>
      </p:sp>
      <p:sp>
        <p:nvSpPr>
          <p:cNvPr id="6" name="TextBox 32">
            <a:extLst>
              <a:ext uri="{FF2B5EF4-FFF2-40B4-BE49-F238E27FC236}">
                <a16:creationId xmlns:a16="http://schemas.microsoft.com/office/drawing/2014/main" id="{0EBCE56F-AF0E-1654-0A7A-95FFBF8D88DD}"/>
              </a:ext>
            </a:extLst>
          </p:cNvPr>
          <p:cNvSpPr txBox="1">
            <a:spLocks/>
          </p:cNvSpPr>
          <p:nvPr/>
        </p:nvSpPr>
        <p:spPr>
          <a:xfrm>
            <a:off x="9930551" y="6492875"/>
            <a:ext cx="2261449" cy="248920"/>
          </a:xfrm>
          <a:prstGeom prst="rect">
            <a:avLst/>
          </a:prstGeom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673E20"/>
                </a:solidFill>
              </a:rPr>
              <a:t>Fatolu Adedoyin Juliana</a:t>
            </a:r>
            <a:endParaRPr lang="en-GB" sz="1600" dirty="0">
              <a:solidFill>
                <a:srgbClr val="673E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06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760</Words>
  <Application>Microsoft Office PowerPoint</Application>
  <PresentationFormat>Widescreen</PresentationFormat>
  <Paragraphs>86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Unicode MS</vt:lpstr>
      <vt:lpstr>Arial</vt:lpstr>
      <vt:lpstr>Calibri</vt:lpstr>
      <vt:lpstr>Calibri Light</vt:lpstr>
      <vt:lpstr>Office Theme</vt:lpstr>
      <vt:lpstr>COFFEE SALES ANALYSIS-  SQL + DASBOARD insights</vt:lpstr>
      <vt:lpstr>Project Objective &amp; Scope Objective: </vt:lpstr>
      <vt:lpstr>Approach</vt:lpstr>
      <vt:lpstr>Data &amp; SQL Approach</vt:lpstr>
      <vt:lpstr>Creating a Table called “coffee_sales”</vt:lpstr>
      <vt:lpstr>Data Importation and Calling Using the “COPY and SELECT statement”</vt:lpstr>
      <vt:lpstr>KPI Summary (Metric Cards)</vt:lpstr>
      <vt:lpstr>TOTAL SALES &amp;TOTAL ORDERS </vt:lpstr>
      <vt:lpstr>AVG UNIT PRICE, TOTAL UNIT SOLD, TOP PRODUCT….</vt:lpstr>
      <vt:lpstr>THE DASHBORD</vt:lpstr>
      <vt:lpstr>TIME OF THE DAY SALES &amp;  WEEK DAYS SALES</vt:lpstr>
      <vt:lpstr>SALES TREND MY MONTH &amp;TOP SELLING PRODUCTS</vt:lpstr>
      <vt:lpstr>TOP 10 MOST ORDERED PRODUCT TYPE</vt:lpstr>
      <vt:lpstr> TOP 10 HIGHEST EARNING PRODUCT TYPE</vt:lpstr>
      <vt:lpstr> Recommendations &amp; Business Impact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Adedoyin Juliana</dc:creator>
  <cp:lastModifiedBy>Adedoyin Juliana</cp:lastModifiedBy>
  <cp:revision>3</cp:revision>
  <dcterms:created xsi:type="dcterms:W3CDTF">2025-08-21T21:28:16Z</dcterms:created>
  <dcterms:modified xsi:type="dcterms:W3CDTF">2025-08-23T21:25:14Z</dcterms:modified>
</cp:coreProperties>
</file>